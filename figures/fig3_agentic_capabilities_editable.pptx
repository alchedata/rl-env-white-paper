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Taxonomy of Agentic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1230" y="3416300"/>
            <a:ext cx="10972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3600000">
            <a:off x="6598310" y="4287382"/>
            <a:ext cx="10972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7200000">
            <a:off x="5592470" y="4287382"/>
            <a:ext cx="10972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5089550" y="3416300"/>
            <a:ext cx="10972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4400000">
            <a:off x="5592470" y="2545217"/>
            <a:ext cx="10972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21270" y="2651760"/>
            <a:ext cx="1554480" cy="1554480"/>
          </a:xfrm>
          <a:prstGeom prst="ellipse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2910" y="28803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3366CC"/>
                </a:solidFill>
              </a:rPr>
              <a:t>• Task Decomposition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3366CC"/>
                </a:solidFill>
              </a:rPr>
              <a:t>• Goal Setting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3366CC"/>
                </a:solidFill>
              </a:rPr>
              <a:t>• Replanning</a:t>
            </a:r>
          </a:p>
        </p:txBody>
      </p:sp>
      <p:sp>
        <p:nvSpPr>
          <p:cNvPr id="10" name="Oval 9"/>
          <p:cNvSpPr/>
          <p:nvPr/>
        </p:nvSpPr>
        <p:spPr>
          <a:xfrm>
            <a:off x="6369710" y="4473115"/>
            <a:ext cx="1554480" cy="1554480"/>
          </a:xfrm>
          <a:prstGeom prst="ellipse">
            <a:avLst/>
          </a:prstGeom>
          <a:solidFill>
            <a:srgbClr val="6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Tool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8470" y="5433235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664D99"/>
                </a:solidFill>
              </a:rPr>
              <a:t>• API Calling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664D99"/>
                </a:solidFill>
              </a:rPr>
              <a:t>• Code Execution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664D99"/>
                </a:solidFill>
              </a:rPr>
              <a:t>• Environment Manipulation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266590" y="4473115"/>
            <a:ext cx="1554480" cy="1554480"/>
          </a:xfrm>
          <a:prstGeom prst="ellipse">
            <a:avLst/>
          </a:prstGeom>
          <a:solidFill>
            <a:srgbClr val="4D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5350" y="5433235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4D9980"/>
                </a:solidFill>
              </a:rPr>
              <a:t>• Short-term (Context)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4D9980"/>
                </a:solidFill>
              </a:rPr>
              <a:t>• Long-term (Vector DB)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4D9980"/>
                </a:solidFill>
              </a:rPr>
              <a:t>• Episodic (Experience)</a:t>
            </a:r>
          </a:p>
        </p:txBody>
      </p:sp>
      <p:sp>
        <p:nvSpPr>
          <p:cNvPr id="14" name="Oval 13"/>
          <p:cNvSpPr/>
          <p:nvPr/>
        </p:nvSpPr>
        <p:spPr>
          <a:xfrm>
            <a:off x="3215030" y="2651760"/>
            <a:ext cx="1554480" cy="1554480"/>
          </a:xfrm>
          <a:prstGeom prst="ellipse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Self-</a:t>
            </a:r>
            <a:br/>
            <a:r>
              <a:t>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6430" y="4343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CC6633"/>
                </a:solidFill>
              </a:rPr>
              <a:t>• Learning from Feedback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CC6633"/>
                </a:solidFill>
              </a:rPr>
              <a:t>• Error Recognition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CC6633"/>
                </a:solidFill>
              </a:rPr>
              <a:t>• Iterative Refinement</a:t>
            </a:r>
          </a:p>
        </p:txBody>
      </p:sp>
      <p:sp>
        <p:nvSpPr>
          <p:cNvPr id="16" name="Oval 15"/>
          <p:cNvSpPr/>
          <p:nvPr/>
        </p:nvSpPr>
        <p:spPr>
          <a:xfrm>
            <a:off x="4266590" y="830404"/>
            <a:ext cx="1554480" cy="1554480"/>
          </a:xfrm>
          <a:prstGeom prst="ellipse">
            <a:avLst/>
          </a:prstGeom>
          <a:solidFill>
            <a:srgbClr val="99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0710" y="1790524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994D4D"/>
                </a:solidFill>
              </a:rPr>
              <a:t>• Chain-of-Thought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994D4D"/>
                </a:solidFill>
              </a:rPr>
              <a:t>•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>
                <a:solidFill>
                  <a:srgbClr val="994D4D"/>
                </a:solidFill>
              </a:rPr>
              <a:t>• Logical Deduction</a:t>
            </a:r>
          </a:p>
        </p:txBody>
      </p:sp>
      <p:sp>
        <p:nvSpPr>
          <p:cNvPr id="18" name="Oval 17"/>
          <p:cNvSpPr/>
          <p:nvPr/>
        </p:nvSpPr>
        <p:spPr>
          <a:xfrm>
            <a:off x="5089550" y="2423160"/>
            <a:ext cx="2011680" cy="20116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defRPr sz="2000" b="1">
                <a:solidFill>
                  <a:srgbClr val="333333"/>
                </a:solidFill>
              </a:defRPr>
            </a:pPr>
            <a:r>
              <a:t>Agentic</a:t>
            </a:r>
            <a:br/>
            <a:r>
              <a:t>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